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30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D0FEA-3612-417C-9866-ED2A5039E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7E9A4-22EB-43EE-9881-DA61D841D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63273-EDA1-4669-B6EB-C08FB7BE3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7A4C8-F03A-4DC5-9419-BA59ABF7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399A8-FEF2-4DAD-B4EB-A321BA52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2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B8FF-2DA9-439B-B860-BDAEE688F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911AD-E55D-4705-ADA1-983E311F9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3038D-F6F3-4AB4-8635-5D664623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F3D6C-FEF8-4DDC-AB20-76594176E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6368E-CEA0-48EC-9AF2-33DD659A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9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91FB-18E8-4BC5-8D7A-D19B6569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93DAE-66AB-4639-A45A-6237ACBDA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B4C53-6A2C-470E-A45D-5EE80142C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F0365-E952-4B27-804E-8BD57D04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506B1-0522-4B31-B673-5A349A41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80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C298A-9929-46C4-8CFE-E4EA313BC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F324F-F73E-40B0-83D6-0BABAFFB0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C3C0A-2544-406C-8A28-339036C27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EA472-E241-4CA5-93AF-C6F959E86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42414-8662-477D-8974-38B9B4567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4F6A5-DE5A-4247-A8C5-5AF92CCA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22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2108-A543-4C4D-BF0D-647B21B3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1F4A4-9252-4C9E-9305-5A703755A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EA9B2-CE30-47DF-9D21-4FE72015C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6A4F63-7F4B-4CDA-9D95-BB980AD77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4711F-F2E4-428B-9C4B-4FFAFD921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6FB76-4D13-4A47-86E3-7CB80672A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6EC5D4-F79C-4B54-BD81-FDF1ACDF6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CF08EF-4F0A-44E5-9065-601CEB2A8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376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3C11-178A-4994-AEEC-5F7B9531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856C03-7A11-4C03-B605-31108DA9C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DB6D4-453B-4695-BE7B-ED3131DDE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659DE-3403-4228-B108-0F60670B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844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FDB92-FD81-46A1-A918-37429A67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8AB5D-EF6C-4A85-B270-4AA0B52D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8CC61-028E-4AC9-96B6-0089EC81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4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516C-D5F1-4B63-9A49-A869CC4EF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39249-17F3-4FB6-9500-8C338E5B2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7B74B-74E7-43B6-82B3-78244E8EB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BCC61-3777-42A3-A4EA-053CA351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9A3C0-9FA2-4269-90EB-63D61CF02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657CC-F724-4499-903B-B8EB8F07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1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5E30-9D19-4031-BD08-CA984B484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BF1AE-95F5-47BD-BF2D-49E455A8D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D894D-DE62-43A1-B4AE-41A803A71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E6839-936C-4C3F-9BDD-C9D1A117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7D92F-F931-46AD-AC1C-8578BBE5F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43971-46BB-4002-B5A7-B54C1567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33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6B46-0863-4B97-B7DE-75AEDFF21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F5CAD-2382-4B6E-BD4D-5B8D96599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7C9B7-44EA-455B-B7FF-23DD2E2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91584-71A4-40E7-BCD4-68455F0E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2A222-BA1D-4D98-B5BE-986E933B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85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901286-9FA5-4D82-B484-4FBF155C0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70698-1B69-4F18-8F20-8BFEA3471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DA534-A0D5-4AE5-BDAC-0D5AC611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F873D-B5AA-41E6-8772-AAD72D4C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9CE91-EA26-48D8-B84A-A1B88568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21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8BBAC-9455-4B74-ACA4-0EAE6909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313AB-24F4-44ED-832B-0AF91153E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C2FE0-6AA8-4735-8DB2-8EA09DDB2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CF29C-E617-41E6-8CB0-B5DB27D90D32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00AC5-B21B-4C05-9775-296CD191E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30C37-E97B-4C3C-924D-85135D3B2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7F476-BD1B-47D0-8A11-943CEA62E3C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0679CF-5343-49F3-B34A-28FB9D6F625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6690360"/>
            <a:ext cx="1538288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Non-Confidential - Anyone</a:t>
            </a:r>
          </a:p>
        </p:txBody>
      </p:sp>
    </p:spTree>
    <p:extLst>
      <p:ext uri="{BB962C8B-B14F-4D97-AF65-F5344CB8AC3E}">
        <p14:creationId xmlns:p14="http://schemas.microsoft.com/office/powerpoint/2010/main" val="190486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2DC50-A44D-40C3-AE4D-ED52FECD54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0651" y="1253331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1600" dirty="0"/>
                  <a:t>The core idea of GAM is to use p-splines to automatically build a non-linear curve to each rating factor under a GLM framework.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1600" dirty="0"/>
                  <a:t>GAM predictions have the following functional form: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GB" sz="16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1600" dirty="0">
                    <a:ea typeface="Cambria Math" panose="02040503050406030204" pitchFamily="18" charset="0"/>
                  </a:rPr>
                  <a:t>The optimal functional form is found by optimising the following loss objective, where the second term is to penalise the curviness of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600" dirty="0">
                    <a:ea typeface="Cambria Math" panose="02040503050406030204" pitchFamily="18" charset="0"/>
                  </a:rPr>
                  <a:t> fitted resulting in a smoother curve: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𝐷𝑒𝑣𝑖𝑎𝑛𝑐𝑒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𝑙𝑜𝑠𝑠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sz="16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1600" dirty="0">
                    <a:ea typeface="Cambria Math" panose="02040503050406030204" pitchFamily="18" charset="0"/>
                  </a:rPr>
                  <a:t>GAM can be build with an open source package – PyGAM – in Python.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1600" dirty="0">
                    <a:ea typeface="Cambria Math" panose="02040503050406030204" pitchFamily="18" charset="0"/>
                  </a:rPr>
                  <a:t>The hyperparameters of GAM are the number of splines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600" dirty="0">
                    <a:ea typeface="Cambria Math" panose="02040503050406030204" pitchFamily="18" charset="0"/>
                  </a:rPr>
                  <a:t> for each rating factor.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1600" dirty="0">
                    <a:ea typeface="Cambria Math" panose="02040503050406030204" pitchFamily="18" charset="0"/>
                  </a:rPr>
                  <a:t>Hyperparameters can be tuned using efficiently using Bayesian optimisation with open source packages in Python, e.g. Optuna.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sz="16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2DC50-A44D-40C3-AE4D-ED52FECD5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51" y="1253331"/>
                <a:ext cx="10515600" cy="4351338"/>
              </a:xfrm>
              <a:blipFill>
                <a:blip r:embed="rId2"/>
                <a:stretch>
                  <a:fillRect l="-348" t="-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BED622A-E004-47E9-8CD8-0D4F1D144425}"/>
              </a:ext>
            </a:extLst>
          </p:cNvPr>
          <p:cNvSpPr txBox="1"/>
          <p:nvPr/>
        </p:nvSpPr>
        <p:spPr>
          <a:xfrm>
            <a:off x="809897" y="465593"/>
            <a:ext cx="52861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GAM Overview</a:t>
            </a:r>
          </a:p>
        </p:txBody>
      </p:sp>
    </p:spTree>
    <p:extLst>
      <p:ext uri="{BB962C8B-B14F-4D97-AF65-F5344CB8AC3E}">
        <p14:creationId xmlns:p14="http://schemas.microsoft.com/office/powerpoint/2010/main" val="3769976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E83CE5-13A2-433C-9565-88F2425E9A6A}"/>
              </a:ext>
            </a:extLst>
          </p:cNvPr>
          <p:cNvSpPr txBox="1"/>
          <p:nvPr/>
        </p:nvSpPr>
        <p:spPr>
          <a:xfrm>
            <a:off x="809897" y="212660"/>
            <a:ext cx="52861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GAM Development Procedure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70B10F-4C1F-423B-BC03-2B40C3369208}"/>
              </a:ext>
            </a:extLst>
          </p:cNvPr>
          <p:cNvGrpSpPr/>
          <p:nvPr/>
        </p:nvGrpSpPr>
        <p:grpSpPr>
          <a:xfrm>
            <a:off x="1417067" y="806996"/>
            <a:ext cx="9587630" cy="5797939"/>
            <a:chOff x="1406435" y="1166948"/>
            <a:chExt cx="9587630" cy="579793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81AA81-61B6-4AB0-8716-36544E42C64D}"/>
                </a:ext>
              </a:extLst>
            </p:cNvPr>
            <p:cNvGrpSpPr/>
            <p:nvPr/>
          </p:nvGrpSpPr>
          <p:grpSpPr>
            <a:xfrm>
              <a:off x="1406435" y="1166948"/>
              <a:ext cx="9587630" cy="534261"/>
              <a:chOff x="1406435" y="1166948"/>
              <a:chExt cx="9505406" cy="809898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F7B240A-1A0C-4C32-AA65-04C855C8B76E}"/>
                  </a:ext>
                </a:extLst>
              </p:cNvPr>
              <p:cNvSpPr/>
              <p:nvPr/>
            </p:nvSpPr>
            <p:spPr>
              <a:xfrm>
                <a:off x="2490653" y="1166948"/>
                <a:ext cx="8421188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600" dirty="0"/>
                  <a:t>Perform feature engineering on the raw data, e.g. one-hot encoding categorical variables. 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5A8E078-6300-485C-9BED-0CA56E4B7443}"/>
                  </a:ext>
                </a:extLst>
              </p:cNvPr>
              <p:cNvSpPr/>
              <p:nvPr/>
            </p:nvSpPr>
            <p:spPr>
              <a:xfrm>
                <a:off x="1406435" y="1166948"/>
                <a:ext cx="805542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1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7B5690B-88D5-41C3-9DC1-9A2EBD22E000}"/>
                </a:ext>
              </a:extLst>
            </p:cNvPr>
            <p:cNvGrpSpPr/>
            <p:nvPr/>
          </p:nvGrpSpPr>
          <p:grpSpPr>
            <a:xfrm>
              <a:off x="1406435" y="2061161"/>
              <a:ext cx="9587630" cy="534261"/>
              <a:chOff x="1406435" y="1166948"/>
              <a:chExt cx="9505406" cy="80989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7EC54C34-4BC4-44EE-93FC-8C36704CC6C6}"/>
                  </a:ext>
                </a:extLst>
              </p:cNvPr>
              <p:cNvSpPr/>
              <p:nvPr/>
            </p:nvSpPr>
            <p:spPr>
              <a:xfrm>
                <a:off x="2490653" y="1166948"/>
                <a:ext cx="8421188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600" dirty="0"/>
                  <a:t>Build a single-factor model with all the features. </a:t>
                </a: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BB4662B2-BEA1-4A3B-9594-56364C4ECFCE}"/>
                  </a:ext>
                </a:extLst>
              </p:cNvPr>
              <p:cNvSpPr/>
              <p:nvPr/>
            </p:nvSpPr>
            <p:spPr>
              <a:xfrm>
                <a:off x="1406435" y="1166948"/>
                <a:ext cx="805542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2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DA02B29-CC62-4EF5-B393-15EC99EA469E}"/>
                </a:ext>
              </a:extLst>
            </p:cNvPr>
            <p:cNvGrpSpPr/>
            <p:nvPr/>
          </p:nvGrpSpPr>
          <p:grpSpPr>
            <a:xfrm>
              <a:off x="1406435" y="2951984"/>
              <a:ext cx="9587630" cy="534261"/>
              <a:chOff x="1406435" y="1166948"/>
              <a:chExt cx="9505406" cy="809898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B4A54F07-B217-404C-9038-D28F499FE5E2}"/>
                  </a:ext>
                </a:extLst>
              </p:cNvPr>
              <p:cNvSpPr/>
              <p:nvPr/>
            </p:nvSpPr>
            <p:spPr>
              <a:xfrm>
                <a:off x="2490653" y="1166948"/>
                <a:ext cx="8421188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600" dirty="0"/>
                  <a:t>Perform iterative factor pruning to get the optimal set of features. 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1392D085-EC33-4957-BDCF-E8D37F411DD2}"/>
                  </a:ext>
                </a:extLst>
              </p:cNvPr>
              <p:cNvSpPr/>
              <p:nvPr/>
            </p:nvSpPr>
            <p:spPr>
              <a:xfrm>
                <a:off x="1406435" y="1166948"/>
                <a:ext cx="805542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3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6A85DAC-B2B3-425C-BC65-BEDD47B16F77}"/>
                </a:ext>
              </a:extLst>
            </p:cNvPr>
            <p:cNvGrpSpPr/>
            <p:nvPr/>
          </p:nvGrpSpPr>
          <p:grpSpPr>
            <a:xfrm>
              <a:off x="1406435" y="3830146"/>
              <a:ext cx="9587630" cy="534261"/>
              <a:chOff x="1406435" y="1166948"/>
              <a:chExt cx="9505406" cy="809898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331E4BD5-0E07-4127-87E4-B42F39C709A8}"/>
                  </a:ext>
                </a:extLst>
              </p:cNvPr>
              <p:cNvSpPr/>
              <p:nvPr/>
            </p:nvSpPr>
            <p:spPr>
              <a:xfrm>
                <a:off x="2490653" y="1166948"/>
                <a:ext cx="8421188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600" dirty="0"/>
                  <a:t>Build a final single-factor model with the optimal features. 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08D2B9D-9A66-4301-8F5A-E34B4C8851DB}"/>
                  </a:ext>
                </a:extLst>
              </p:cNvPr>
              <p:cNvSpPr/>
              <p:nvPr/>
            </p:nvSpPr>
            <p:spPr>
              <a:xfrm>
                <a:off x="1406435" y="1166948"/>
                <a:ext cx="805542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4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E5A9866-1D9C-407E-B273-83A9098BC123}"/>
                </a:ext>
              </a:extLst>
            </p:cNvPr>
            <p:cNvGrpSpPr/>
            <p:nvPr/>
          </p:nvGrpSpPr>
          <p:grpSpPr>
            <a:xfrm>
              <a:off x="1406435" y="4708308"/>
              <a:ext cx="9587630" cy="534261"/>
              <a:chOff x="1406435" y="1166948"/>
              <a:chExt cx="9505406" cy="809898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A0264962-1A65-4265-92FA-E7ED3FE90C0E}"/>
                  </a:ext>
                </a:extLst>
              </p:cNvPr>
              <p:cNvSpPr/>
              <p:nvPr/>
            </p:nvSpPr>
            <p:spPr>
              <a:xfrm>
                <a:off x="2490653" y="1166948"/>
                <a:ext cx="8421188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600" dirty="0"/>
                  <a:t>Build a depth-two GBM with the single factor model predictions as starting points to detect any significant interaction effects.  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9B222EB1-B0AF-40E3-B71C-BC3E93D7BB5D}"/>
                  </a:ext>
                </a:extLst>
              </p:cNvPr>
              <p:cNvSpPr/>
              <p:nvPr/>
            </p:nvSpPr>
            <p:spPr>
              <a:xfrm>
                <a:off x="1406435" y="1166948"/>
                <a:ext cx="805542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5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FAE14A7-4EB9-4308-A400-DA6EE6417978}"/>
                </a:ext>
              </a:extLst>
            </p:cNvPr>
            <p:cNvGrpSpPr/>
            <p:nvPr/>
          </p:nvGrpSpPr>
          <p:grpSpPr>
            <a:xfrm>
              <a:off x="1406435" y="5569467"/>
              <a:ext cx="9587630" cy="534261"/>
              <a:chOff x="1406435" y="1166948"/>
              <a:chExt cx="9505406" cy="809898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E4CBA88-3FB2-4638-81FD-668372399CE3}"/>
                  </a:ext>
                </a:extLst>
              </p:cNvPr>
              <p:cNvSpPr/>
              <p:nvPr/>
            </p:nvSpPr>
            <p:spPr>
              <a:xfrm>
                <a:off x="2490653" y="1166948"/>
                <a:ext cx="8421188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600" dirty="0"/>
                  <a:t>Build a final GAM with the optimal features and significant interaction terms detected by the GBM.  </a:t>
                </a: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BF0DBDD5-3D1C-48C3-B158-0A9A16B03B56}"/>
                  </a:ext>
                </a:extLst>
              </p:cNvPr>
              <p:cNvSpPr/>
              <p:nvPr/>
            </p:nvSpPr>
            <p:spPr>
              <a:xfrm>
                <a:off x="1406435" y="1166948"/>
                <a:ext cx="805542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6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61E8209-530C-4958-9D75-8611E9F1275F}"/>
                </a:ext>
              </a:extLst>
            </p:cNvPr>
            <p:cNvGrpSpPr/>
            <p:nvPr/>
          </p:nvGrpSpPr>
          <p:grpSpPr>
            <a:xfrm>
              <a:off x="1406435" y="6430626"/>
              <a:ext cx="9587630" cy="534261"/>
              <a:chOff x="1406435" y="1166948"/>
              <a:chExt cx="9505406" cy="809898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840D579C-43C7-4A60-8791-6C87E49D0F5D}"/>
                  </a:ext>
                </a:extLst>
              </p:cNvPr>
              <p:cNvSpPr/>
              <p:nvPr/>
            </p:nvSpPr>
            <p:spPr>
              <a:xfrm>
                <a:off x="2490653" y="1166948"/>
                <a:ext cx="8421188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600" dirty="0"/>
                  <a:t>Evaluate model performance on the holdout and explain the model with partial dependency plots.  </a:t>
                </a: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A32FF10-4124-4B69-8DBE-392680BF8C85}"/>
                  </a:ext>
                </a:extLst>
              </p:cNvPr>
              <p:cNvSpPr/>
              <p:nvPr/>
            </p:nvSpPr>
            <p:spPr>
              <a:xfrm>
                <a:off x="1406435" y="1166948"/>
                <a:ext cx="805542" cy="8098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623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4f8c961-cfce-4b79-9dcb-2dc1eb2d4214}" enabled="1" method="Privileged" siteId="{2a01fed0-99fe-4589-8d1f-8e7c1ca91bfd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256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Jacky Tam</dc:creator>
  <cp:lastModifiedBy>Jacky Tam</cp:lastModifiedBy>
  <cp:revision>3</cp:revision>
  <dcterms:created xsi:type="dcterms:W3CDTF">2024-07-08T15:29:33Z</dcterms:created>
  <dcterms:modified xsi:type="dcterms:W3CDTF">2024-07-08T16:08:06Z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Non-Confidential - Anyone</vt:lpwstr>
  </property>
</Properties>
</file>